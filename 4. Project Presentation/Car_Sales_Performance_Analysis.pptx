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1491"/>
    <p:restoredTop sz="94610"/>
  </p:normalViewPr>
  <p:slideViewPr>
    <p:cSldViewPr snapToGrid="0" snapToObjects="1">
      <p:cViewPr>
        <p:scale>
          <a:sx n="125" d="100"/>
          <a:sy n="125" d="100"/>
        </p:scale>
        <p:origin x="-1496" y="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0579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3897" y="957095"/>
            <a:ext cx="7596178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Car Sales Performance
Analysis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773897" y="2441710"/>
            <a:ext cx="607693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Uncovering trends in revenue, profitability, brand performance, and market positioning across the U.S. used-car auction market.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73897" y="3827431"/>
            <a:ext cx="7596178" cy="358973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4B4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By: Vhonani Mphoshomale - Junior Analyst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286750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Table of Contents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428625" y="1041202"/>
            <a:ext cx="428625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FF4B4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01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1035844" y="1145679"/>
            <a:ext cx="1719858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Executive Summary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28625" y="1680567"/>
            <a:ext cx="439341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FF4B4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02</a:t>
            </a:r>
            <a:endParaRPr lang="en-US" sz="2450" dirty="0"/>
          </a:p>
        </p:txBody>
      </p:sp>
      <p:sp>
        <p:nvSpPr>
          <p:cNvPr id="7" name="Text 4"/>
          <p:cNvSpPr/>
          <p:nvPr/>
        </p:nvSpPr>
        <p:spPr>
          <a:xfrm>
            <a:off x="1046559" y="1785045"/>
            <a:ext cx="1973461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Brand Volume Analysis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28625" y="2319933"/>
            <a:ext cx="439341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FF4B4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03</a:t>
            </a:r>
            <a:endParaRPr lang="en-US" sz="2450" dirty="0"/>
          </a:p>
        </p:txBody>
      </p:sp>
      <p:sp>
        <p:nvSpPr>
          <p:cNvPr id="9" name="Text 6"/>
          <p:cNvSpPr/>
          <p:nvPr/>
        </p:nvSpPr>
        <p:spPr>
          <a:xfrm>
            <a:off x="1046559" y="2424410"/>
            <a:ext cx="1626989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Revenue Efficiency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28625" y="2959298"/>
            <a:ext cx="475059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FF4B4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04</a:t>
            </a:r>
            <a:endParaRPr lang="en-US" sz="2450" dirty="0"/>
          </a:p>
        </p:txBody>
      </p:sp>
      <p:sp>
        <p:nvSpPr>
          <p:cNvPr id="11" name="Text 8"/>
          <p:cNvSpPr/>
          <p:nvPr/>
        </p:nvSpPr>
        <p:spPr>
          <a:xfrm>
            <a:off x="1082278" y="3063776"/>
            <a:ext cx="172343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Sales Trend Analysis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28625" y="3598664"/>
            <a:ext cx="444698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FF4B4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05</a:t>
            </a:r>
            <a:endParaRPr lang="en-US" sz="2450" dirty="0"/>
          </a:p>
        </p:txBody>
      </p:sp>
      <p:sp>
        <p:nvSpPr>
          <p:cNvPr id="13" name="Text 10"/>
          <p:cNvSpPr/>
          <p:nvPr/>
        </p:nvSpPr>
        <p:spPr>
          <a:xfrm>
            <a:off x="1051917" y="3703141"/>
            <a:ext cx="1971675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Body Type Distribution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714875" y="1041202"/>
            <a:ext cx="458986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FF4B4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06</a:t>
            </a:r>
            <a:endParaRPr lang="en-US" sz="2450" dirty="0"/>
          </a:p>
        </p:txBody>
      </p:sp>
      <p:sp>
        <p:nvSpPr>
          <p:cNvPr id="15" name="Text 12"/>
          <p:cNvSpPr/>
          <p:nvPr/>
        </p:nvSpPr>
        <p:spPr>
          <a:xfrm>
            <a:off x="5352455" y="1145679"/>
            <a:ext cx="1734145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Geographic Markets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714875" y="1680567"/>
            <a:ext cx="451842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FF4B4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07</a:t>
            </a:r>
            <a:endParaRPr lang="en-US" sz="2450" dirty="0"/>
          </a:p>
        </p:txBody>
      </p:sp>
      <p:sp>
        <p:nvSpPr>
          <p:cNvPr id="17" name="Text 14"/>
          <p:cNvSpPr/>
          <p:nvPr/>
        </p:nvSpPr>
        <p:spPr>
          <a:xfrm>
            <a:off x="5345311" y="1785045"/>
            <a:ext cx="189488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Profitability Challenge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714875" y="2319933"/>
            <a:ext cx="464344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FF4B4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08</a:t>
            </a:r>
            <a:endParaRPr lang="en-US" sz="2450" dirty="0"/>
          </a:p>
        </p:txBody>
      </p:sp>
      <p:sp>
        <p:nvSpPr>
          <p:cNvPr id="19" name="Text 16"/>
          <p:cNvSpPr/>
          <p:nvPr/>
        </p:nvSpPr>
        <p:spPr>
          <a:xfrm>
            <a:off x="5357813" y="2424410"/>
            <a:ext cx="2002036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Pricing vs Market Value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4714875" y="2959298"/>
            <a:ext cx="458986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FF4B4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09</a:t>
            </a:r>
            <a:endParaRPr lang="en-US" sz="2450" dirty="0"/>
          </a:p>
        </p:txBody>
      </p:sp>
      <p:sp>
        <p:nvSpPr>
          <p:cNvPr id="21" name="Text 18"/>
          <p:cNvSpPr/>
          <p:nvPr/>
        </p:nvSpPr>
        <p:spPr>
          <a:xfrm>
            <a:off x="5352455" y="3063776"/>
            <a:ext cx="1042988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Insights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4714875" y="3598664"/>
            <a:ext cx="428625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FF4B4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10</a:t>
            </a:r>
            <a:endParaRPr lang="en-US" sz="2450" dirty="0"/>
          </a:p>
        </p:txBody>
      </p:sp>
      <p:sp>
        <p:nvSpPr>
          <p:cNvPr id="23" name="Text 20"/>
          <p:cNvSpPr/>
          <p:nvPr/>
        </p:nvSpPr>
        <p:spPr>
          <a:xfrm>
            <a:off x="5322094" y="3703141"/>
            <a:ext cx="2468166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Strategic Recommendations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286750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Executive Summary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428625" y="1112639"/>
            <a:ext cx="266699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3300" b="1" dirty="0">
                <a:solidFill>
                  <a:srgbClr val="00D2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137,809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428625" y="1641277"/>
            <a:ext cx="2666991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kern="0" spc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TOTAL UNITS SOLD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238491" y="1112639"/>
            <a:ext cx="266699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3300" b="1" dirty="0">
                <a:solidFill>
                  <a:srgbClr val="00D2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$1.73B</a:t>
            </a:r>
            <a:endParaRPr lang="en-US" sz="3300" dirty="0"/>
          </a:p>
        </p:txBody>
      </p:sp>
      <p:sp>
        <p:nvSpPr>
          <p:cNvPr id="7" name="Text 4"/>
          <p:cNvSpPr/>
          <p:nvPr/>
        </p:nvSpPr>
        <p:spPr>
          <a:xfrm>
            <a:off x="3238491" y="1641277"/>
            <a:ext cx="2666991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kern="0" spc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TOTAL REVENUE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048356" y="1112639"/>
            <a:ext cx="2667019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3300" b="1" dirty="0">
                <a:solidFill>
                  <a:srgbClr val="00D2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$12,535</a:t>
            </a:r>
            <a:endParaRPr lang="en-US" sz="3300" dirty="0"/>
          </a:p>
        </p:txBody>
      </p:sp>
      <p:sp>
        <p:nvSpPr>
          <p:cNvPr id="9" name="Text 6"/>
          <p:cNvSpPr/>
          <p:nvPr/>
        </p:nvSpPr>
        <p:spPr>
          <a:xfrm>
            <a:off x="6048356" y="1641277"/>
            <a:ext cx="2667019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kern="0" spc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AVERAGE SELLING PRICE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428625" y="2323505"/>
            <a:ext cx="266699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3300" b="1" dirty="0">
                <a:solidFill>
                  <a:srgbClr val="00D2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65 / 783</a:t>
            </a:r>
            <a:endParaRPr lang="en-US" sz="3300" dirty="0"/>
          </a:p>
        </p:txBody>
      </p:sp>
      <p:sp>
        <p:nvSpPr>
          <p:cNvPr id="11" name="Text 8"/>
          <p:cNvSpPr/>
          <p:nvPr/>
        </p:nvSpPr>
        <p:spPr>
          <a:xfrm>
            <a:off x="428625" y="2852142"/>
            <a:ext cx="2666991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kern="0" spc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 MAKES / MODELS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3238491" y="2323505"/>
            <a:ext cx="266699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3300" b="1" dirty="0">
                <a:solidFill>
                  <a:srgbClr val="00D2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36</a:t>
            </a:r>
            <a:endParaRPr lang="en-US" sz="3300" dirty="0"/>
          </a:p>
        </p:txBody>
      </p:sp>
      <p:sp>
        <p:nvSpPr>
          <p:cNvPr id="13" name="Text 10"/>
          <p:cNvSpPr/>
          <p:nvPr/>
        </p:nvSpPr>
        <p:spPr>
          <a:xfrm>
            <a:off x="3238491" y="2852142"/>
            <a:ext cx="2666991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kern="0" spc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STATES COVERED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048356" y="2323505"/>
            <a:ext cx="2667019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3300" b="1" dirty="0">
                <a:solidFill>
                  <a:srgbClr val="00D2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18 Mos</a:t>
            </a:r>
            <a:endParaRPr lang="en-US" sz="3300" dirty="0"/>
          </a:p>
        </p:txBody>
      </p:sp>
      <p:sp>
        <p:nvSpPr>
          <p:cNvPr id="15" name="Text 12"/>
          <p:cNvSpPr/>
          <p:nvPr/>
        </p:nvSpPr>
        <p:spPr>
          <a:xfrm>
            <a:off x="6048356" y="2852142"/>
            <a:ext cx="2667019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kern="0" spc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JAN 2014 – JUL 2015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28625" y="3834408"/>
            <a:ext cx="828675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4B4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28625" y="4114800"/>
            <a:ext cx="82867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dataset captures a large-scale U.S. used-car auction market with strong volume but thin — and often negative — profit margins, signaling a highly competitive pricing environment.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286750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Top Makes by Units Sold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428625" y="1126927"/>
            <a:ext cx="3286125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D2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Ford Dominates Volume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28625" y="1371600"/>
            <a:ext cx="328612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Ford leads with 22,625 units sold — nearly 50% more than second-place Chevrolet (14,926).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428625" y="2037364"/>
            <a:ext cx="3286125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D2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Asian Brands Follow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28625" y="2282037"/>
            <a:ext cx="328612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Nissan ranks 3rd with 12,065 units, followed by Toyota (9,446) and Honda (7,945).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28625" y="2947801"/>
            <a:ext cx="3286125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D2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Domestic Strength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28625" y="3192475"/>
            <a:ext cx="3286125" cy="32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Domestic brands (Ford, Chevrolet, Dodge, Chrysler) collectively account for ~36% of total volume.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428625" y="3858239"/>
            <a:ext cx="3286125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D2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Premium Positioning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28625" y="4102912"/>
            <a:ext cx="328612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BMW ranks 8th in units but 4th in revenue, reflecting its premium pricing advantage.</a:t>
            </a:r>
            <a:endParaRPr lang="en-US" sz="8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0" y="1346513"/>
            <a:ext cx="4714875" cy="281678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286750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Top Makes by Revenue</a:t>
            </a:r>
            <a:endParaRPr lang="en-US" sz="20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1440805"/>
            <a:ext cx="4714875" cy="281109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29250" y="1126927"/>
            <a:ext cx="3286125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D2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$302.2M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5429250" y="1371600"/>
            <a:ext cx="328612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Ford generates $302.2M in total revenue, nearly double Chevrolet's $158.2M.</a:t>
            </a:r>
            <a:endParaRPr lang="en-US" sz="850" dirty="0"/>
          </a:p>
        </p:txBody>
      </p:sp>
      <p:sp>
        <p:nvSpPr>
          <p:cNvPr id="7" name="Text 3"/>
          <p:cNvSpPr/>
          <p:nvPr/>
        </p:nvSpPr>
        <p:spPr>
          <a:xfrm>
            <a:off x="5429250" y="2037364"/>
            <a:ext cx="3286125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D2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Luxury Leverage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429250" y="2282037"/>
            <a:ext cx="3286125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BMW ($106.4M) and Mercedes-Benz ($88.8M) rank 4th and 6th despite lower unit volumes, demonstrating the revenue leverage of luxury pricing.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5429250" y="3130665"/>
            <a:ext cx="3286125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D2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High Transaction Value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429250" y="3375338"/>
            <a:ext cx="328612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Infiniti ($73.4M) appears in the top 10 by revenue despite not featuring in the top 10 by units.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5429250" y="4041102"/>
            <a:ext cx="3286125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D2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Balanced Mid-Market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429250" y="4285776"/>
            <a:ext cx="328612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Toyota and Honda show balanced volume-to-revenue ratios, reflecting their mid-market positioning.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286750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Sales Trend Analysis</a:t>
            </a:r>
            <a:endParaRPr lang="en-US" sz="20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1554659"/>
            <a:ext cx="4714875" cy="23273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29250" y="1126927"/>
            <a:ext cx="3286125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D2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2015 Sales Surge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5429250" y="1371600"/>
            <a:ext cx="328612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2015 saw a 56% increase in units and 84% in revenue compared to 2014, driven by early-year activity.</a:t>
            </a:r>
            <a:endParaRPr lang="en-US" sz="850" dirty="0"/>
          </a:p>
        </p:txBody>
      </p:sp>
      <p:sp>
        <p:nvSpPr>
          <p:cNvPr id="7" name="Text 3"/>
          <p:cNvSpPr/>
          <p:nvPr/>
        </p:nvSpPr>
        <p:spPr>
          <a:xfrm>
            <a:off x="5429250" y="1851627"/>
            <a:ext cx="76080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2014 Revenue:</a:t>
            </a:r>
            <a:endParaRPr lang="en-US" sz="700" dirty="0"/>
          </a:p>
        </p:txBody>
      </p:sp>
      <p:sp>
        <p:nvSpPr>
          <p:cNvPr id="8" name="Text 4"/>
          <p:cNvSpPr/>
          <p:nvPr/>
        </p:nvSpPr>
        <p:spPr>
          <a:xfrm>
            <a:off x="7756327" y="1851627"/>
            <a:ext cx="95904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00D2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$607.6M (53k units)</a:t>
            </a:r>
            <a:endParaRPr lang="en-US" sz="750" dirty="0"/>
          </a:p>
        </p:txBody>
      </p:sp>
      <p:sp>
        <p:nvSpPr>
          <p:cNvPr id="9" name="Text 5"/>
          <p:cNvSpPr/>
          <p:nvPr/>
        </p:nvSpPr>
        <p:spPr>
          <a:xfrm>
            <a:off x="5429250" y="2087370"/>
            <a:ext cx="75188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2015 Revenue:</a:t>
            </a:r>
            <a:endParaRPr lang="en-US" sz="700" dirty="0"/>
          </a:p>
        </p:txBody>
      </p:sp>
      <p:sp>
        <p:nvSpPr>
          <p:cNvPr id="10" name="Text 6"/>
          <p:cNvSpPr/>
          <p:nvPr/>
        </p:nvSpPr>
        <p:spPr>
          <a:xfrm>
            <a:off x="7874198" y="2087370"/>
            <a:ext cx="841177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00D2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$1.12B (84k units)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5429250" y="2508852"/>
            <a:ext cx="3286125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D2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January 2015 Anomaly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429250" y="2753525"/>
            <a:ext cx="3286125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January alone accounted for 76,606 units and $1.02B in revenue — an extraordinary concentration suggesting a major auction event or data batch.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5429250" y="3602152"/>
            <a:ext cx="3286125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D2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Post-January Drop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429250" y="3846826"/>
            <a:ext cx="3286125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sharp drop after January suggests seasonal or operational factors that significantly reduced transaction volume in subsequent months.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286750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Sales by Body Type</a:t>
            </a:r>
            <a:endParaRPr lang="en-US" sz="20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1734034"/>
            <a:ext cx="4714875" cy="259033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29250" y="1126927"/>
            <a:ext cx="3286125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D2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Sedans Dominate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5429250" y="1371600"/>
            <a:ext cx="3286125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Sedans lead with 59,252 units (43% of total), reflecting strong consumer demand for everyday passenger vehicles.</a:t>
            </a:r>
            <a:endParaRPr lang="en-US" sz="850" dirty="0"/>
          </a:p>
        </p:txBody>
      </p:sp>
      <p:sp>
        <p:nvSpPr>
          <p:cNvPr id="7" name="Text 3"/>
          <p:cNvSpPr/>
          <p:nvPr/>
        </p:nvSpPr>
        <p:spPr>
          <a:xfrm>
            <a:off x="5429250" y="2220227"/>
            <a:ext cx="3286125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D2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SUVs Rank Second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429250" y="2464901"/>
            <a:ext cx="3286125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SUVs follow with 35,505 units (26%), consistent with the broader industry shift toward crossovers and utility vehicles.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5429250" y="3313528"/>
            <a:ext cx="3286125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D2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Family &amp; Urban Segments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429250" y="3558201"/>
            <a:ext cx="328612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Minivans (6,451) and Hatchbacks (6,207) occupy the 3rd and 4th positions, serving specific demographic needs.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5429250" y="4223965"/>
            <a:ext cx="3286125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D2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Niche Markets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429250" y="4468639"/>
            <a:ext cx="3286125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Convertibles (2,695) and Crew Cabs (3,690) represent specialized segments with potentially higher per-unit values.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286750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Top States by Sales</a:t>
            </a:r>
            <a:endParaRPr lang="en-US" sz="20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344" y="1243319"/>
            <a:ext cx="4643438" cy="321468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29250" y="1162645"/>
            <a:ext cx="328612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3300" b="1" dirty="0">
                <a:solidFill>
                  <a:srgbClr val="00D2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29.4%</a:t>
            </a:r>
            <a:endParaRPr lang="en-US" sz="3300" dirty="0"/>
          </a:p>
        </p:txBody>
      </p:sp>
      <p:sp>
        <p:nvSpPr>
          <p:cNvPr id="6" name="Text 2"/>
          <p:cNvSpPr/>
          <p:nvPr/>
        </p:nvSpPr>
        <p:spPr>
          <a:xfrm>
            <a:off x="5429250" y="1691283"/>
            <a:ext cx="328612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California (22,818) and Florida (17,616) combined drive nearly 30% of all national sales volume.</a:t>
            </a:r>
            <a:endParaRPr lang="en-US" sz="850" dirty="0"/>
          </a:p>
        </p:txBody>
      </p:sp>
      <p:sp>
        <p:nvSpPr>
          <p:cNvPr id="7" name="Text 3"/>
          <p:cNvSpPr/>
          <p:nvPr/>
        </p:nvSpPr>
        <p:spPr>
          <a:xfrm>
            <a:off x="5429250" y="2464203"/>
            <a:ext cx="1317668" cy="4148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3300" b="1" dirty="0">
                <a:solidFill>
                  <a:srgbClr val="00D2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72.4%</a:t>
            </a:r>
            <a:endParaRPr lang="en-US" sz="3300" dirty="0"/>
          </a:p>
        </p:txBody>
      </p:sp>
      <p:sp>
        <p:nvSpPr>
          <p:cNvPr id="8" name="Text 4"/>
          <p:cNvSpPr/>
          <p:nvPr/>
        </p:nvSpPr>
        <p:spPr>
          <a:xfrm>
            <a:off x="5429250" y="2992841"/>
            <a:ext cx="328612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top 10 states collectively account for ~103,000 units, indicating high geographic concentration.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5429250" y="3765761"/>
            <a:ext cx="328612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3300" b="1" dirty="0">
                <a:solidFill>
                  <a:srgbClr val="00D2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Coastal</a:t>
            </a:r>
            <a:endParaRPr lang="en-US" sz="3300" dirty="0"/>
          </a:p>
        </p:txBody>
      </p:sp>
      <p:sp>
        <p:nvSpPr>
          <p:cNvPr id="10" name="Text 6"/>
          <p:cNvSpPr/>
          <p:nvPr/>
        </p:nvSpPr>
        <p:spPr>
          <a:xfrm>
            <a:off x="5429250" y="4294398"/>
            <a:ext cx="328612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Southern and coastal states dominate, reflecting population density and active used-car auction markets.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286750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Profitability Challenge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428625" y="1091208"/>
            <a:ext cx="266699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3300" b="1" dirty="0">
                <a:solidFill>
                  <a:srgbClr val="00D2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85.5%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428625" y="1655564"/>
            <a:ext cx="2666991" cy="548590"/>
          </a:xfrm>
          <a:prstGeom prst="rect">
            <a:avLst/>
          </a:prstGeom>
          <a:noFill/>
          <a:ln/>
        </p:spPr>
        <p:txBody>
          <a:bodyPr wrap="square" lIns="0" tIns="0" rIns="170053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 all transactions fall into the "Low Margin" tier, with only 5.9% classified as "High Margin."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238491" y="1091208"/>
            <a:ext cx="266699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3300" b="1" dirty="0">
                <a:solidFill>
                  <a:srgbClr val="00D2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-$292</a:t>
            </a:r>
            <a:endParaRPr lang="en-US" sz="3300" dirty="0"/>
          </a:p>
        </p:txBody>
      </p:sp>
      <p:sp>
        <p:nvSpPr>
          <p:cNvPr id="7" name="Text 4"/>
          <p:cNvSpPr/>
          <p:nvPr/>
        </p:nvSpPr>
        <p:spPr>
          <a:xfrm>
            <a:off x="3238491" y="1655564"/>
            <a:ext cx="2666991" cy="548590"/>
          </a:xfrm>
          <a:prstGeom prst="rect">
            <a:avLst/>
          </a:prstGeom>
          <a:noFill/>
          <a:ln/>
        </p:spPr>
        <p:txBody>
          <a:bodyPr wrap="square" lIns="0" tIns="0" rIns="170053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overall average profit per vehicle, meaning the market is operating at a net loss on average.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048356" y="1091208"/>
            <a:ext cx="2667019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3300" b="1" dirty="0">
                <a:solidFill>
                  <a:srgbClr val="00D2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ZERO</a:t>
            </a:r>
            <a:endParaRPr lang="en-US" sz="3300" dirty="0"/>
          </a:p>
        </p:txBody>
      </p:sp>
      <p:sp>
        <p:nvSpPr>
          <p:cNvPr id="9" name="Text 6"/>
          <p:cNvSpPr/>
          <p:nvPr/>
        </p:nvSpPr>
        <p:spPr>
          <a:xfrm>
            <a:off x="6048356" y="1655564"/>
            <a:ext cx="2667019" cy="548590"/>
          </a:xfrm>
          <a:prstGeom prst="rect">
            <a:avLst/>
          </a:prstGeom>
          <a:noFill/>
          <a:ln/>
        </p:spPr>
        <p:txBody>
          <a:bodyPr wrap="square" lIns="0" tIns="0" rIns="170053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top-10 brands achieve a positive average profit. Honda posts the best (–$143), while Chrysler performs worst (–$396).</a:t>
            </a:r>
            <a:endParaRPr lang="en-US" sz="8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1084" y="2489904"/>
            <a:ext cx="2666991" cy="2571750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0950" y="2489904"/>
            <a:ext cx="4071938" cy="25717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286750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Pricing vs. Market Value</a:t>
            </a:r>
            <a:endParaRPr lang="en-US" sz="20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1084" y="969764"/>
            <a:ext cx="2666991" cy="22860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3438" y="969764"/>
            <a:ext cx="3369450" cy="228600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428625" y="3662958"/>
            <a:ext cx="266699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3300" b="1" dirty="0">
                <a:solidFill>
                  <a:srgbClr val="00D2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46.5%</a:t>
            </a:r>
            <a:endParaRPr lang="en-US" sz="3300" dirty="0"/>
          </a:p>
        </p:txBody>
      </p:sp>
      <p:sp>
        <p:nvSpPr>
          <p:cNvPr id="7" name="Text 2"/>
          <p:cNvSpPr/>
          <p:nvPr/>
        </p:nvSpPr>
        <p:spPr>
          <a:xfrm>
            <a:off x="428625" y="4227314"/>
            <a:ext cx="2666991" cy="548590"/>
          </a:xfrm>
          <a:prstGeom prst="rect">
            <a:avLst/>
          </a:prstGeom>
          <a:noFill/>
          <a:ln/>
        </p:spPr>
        <p:txBody>
          <a:bodyPr wrap="square" lIns="0" tIns="0" rIns="170053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 vehicles (64,056 units) were sold below market value, indicating a systematic underpricing trend across the board.</a:t>
            </a:r>
            <a:endParaRPr lang="en-US" sz="850" dirty="0"/>
          </a:p>
        </p:txBody>
      </p:sp>
      <p:sp>
        <p:nvSpPr>
          <p:cNvPr id="8" name="Text 3"/>
          <p:cNvSpPr/>
          <p:nvPr/>
        </p:nvSpPr>
        <p:spPr>
          <a:xfrm>
            <a:off x="3238491" y="3662958"/>
            <a:ext cx="266699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3300" b="1" dirty="0">
                <a:solidFill>
                  <a:srgbClr val="00D2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41.4%</a:t>
            </a:r>
            <a:endParaRPr lang="en-US" sz="3300" dirty="0"/>
          </a:p>
        </p:txBody>
      </p:sp>
      <p:sp>
        <p:nvSpPr>
          <p:cNvPr id="9" name="Text 4"/>
          <p:cNvSpPr/>
          <p:nvPr/>
        </p:nvSpPr>
        <p:spPr>
          <a:xfrm>
            <a:off x="3238491" y="4227314"/>
            <a:ext cx="2666991" cy="548590"/>
          </a:xfrm>
          <a:prstGeom prst="rect">
            <a:avLst/>
          </a:prstGeom>
          <a:noFill/>
          <a:ln/>
        </p:spPr>
        <p:txBody>
          <a:bodyPr wrap="square" lIns="0" tIns="0" rIns="170053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 sales are high-mileage vehicles, whose dominance in the inventory mix contributes heavily to the below-market pricing pattern.</a:t>
            </a:r>
            <a:endParaRPr lang="en-US" sz="850" dirty="0"/>
          </a:p>
        </p:txBody>
      </p:sp>
      <p:sp>
        <p:nvSpPr>
          <p:cNvPr id="10" name="Text 5"/>
          <p:cNvSpPr/>
          <p:nvPr/>
        </p:nvSpPr>
        <p:spPr>
          <a:xfrm>
            <a:off x="6048356" y="3662958"/>
            <a:ext cx="2667019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3300" b="1" dirty="0">
                <a:solidFill>
                  <a:srgbClr val="00D2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TARGET</a:t>
            </a:r>
            <a:endParaRPr lang="en-US" sz="3300" dirty="0"/>
          </a:p>
        </p:txBody>
      </p:sp>
      <p:sp>
        <p:nvSpPr>
          <p:cNvPr id="11" name="Text 6"/>
          <p:cNvSpPr/>
          <p:nvPr/>
        </p:nvSpPr>
        <p:spPr>
          <a:xfrm>
            <a:off x="6048356" y="4227314"/>
            <a:ext cx="2667019" cy="731453"/>
          </a:xfrm>
          <a:prstGeom prst="rect">
            <a:avLst/>
          </a:prstGeom>
          <a:noFill/>
          <a:ln/>
        </p:spPr>
        <p:txBody>
          <a:bodyPr wrap="square" lIns="0" tIns="0" rIns="170053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Realigning pricing strategy for low-mileage, high-condition vehicles toward market rates could meaningfully improve overall profitability.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286750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Key Insights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428625" y="1112639"/>
            <a:ext cx="3929063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D2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MARKET DYNAMICS</a:t>
            </a:r>
            <a:endParaRPr lang="en-US" sz="16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1741289"/>
            <a:ext cx="128588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00088" y="1727002"/>
            <a:ext cx="36576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High Volume, Low Margin:</a:t>
            </a: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The U.S. used-car auction market operates at a net loss on average (–$292/vehicle), signaling extreme pricing competition.</a:t>
            </a:r>
            <a:endParaRPr lang="en-US" sz="10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2777133"/>
            <a:ext cx="128588" cy="1714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00088" y="2762845"/>
            <a:ext cx="36576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Brand Performance:</a:t>
            </a: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Ford and Chevrolet dominate volume, but premium brands like BMW and Mercedes-Benz show significantly higher revenue efficiency.</a:t>
            </a:r>
            <a:endParaRPr lang="en-US" sz="1000" dirty="0"/>
          </a:p>
        </p:txBody>
      </p:sp>
      <p:sp>
        <p:nvSpPr>
          <p:cNvPr id="9" name="Text 4"/>
          <p:cNvSpPr/>
          <p:nvPr/>
        </p:nvSpPr>
        <p:spPr>
          <a:xfrm>
            <a:off x="4786313" y="1112639"/>
            <a:ext cx="3929063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D2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OPERATIONAL REALITIES</a:t>
            </a:r>
            <a:endParaRPr lang="en-US" sz="16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6313" y="1741289"/>
            <a:ext cx="128588" cy="1714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057775" y="1727002"/>
            <a:ext cx="365760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Pricing Inefficiencies:</a:t>
            </a: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46.5% of vehicles are sold below market value, largely driven by the high proportion of high-mileage inventory.</a:t>
            </a:r>
            <a:endParaRPr lang="en-US" sz="10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6313" y="2562820"/>
            <a:ext cx="128588" cy="17145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5057775" y="2548533"/>
            <a:ext cx="36576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Geographic Concentration:</a:t>
            </a: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Nearly 30% of national volume is concentrated in just two states (CA and FL), suggesting a need for geographic diversification.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286750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Strategic Recommendations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428625" y="1112639"/>
            <a:ext cx="4000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3300" b="1" dirty="0">
                <a:solidFill>
                  <a:srgbClr val="00D2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01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428625" y="1762720"/>
            <a:ext cx="400050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kern="0" spc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OPTIMIZE PRICING STRATEGY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28625" y="2043113"/>
            <a:ext cx="4000500" cy="731453"/>
          </a:xfrm>
          <a:prstGeom prst="rect">
            <a:avLst/>
          </a:prstGeom>
          <a:noFill/>
          <a:ln/>
        </p:spPr>
        <p:txBody>
          <a:bodyPr wrap="square" lIns="0" tIns="0" rIns="170053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Shift below-market vehicles toward at-market or above-market pricing, particularly for low-mileage and high-condition inventory. A 5% price improvement on the 64,056 below-market units could recover ~$40M in lost margin.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714875" y="1112639"/>
            <a:ext cx="4000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3300" b="1" dirty="0">
                <a:solidFill>
                  <a:srgbClr val="00D2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02</a:t>
            </a:r>
            <a:endParaRPr lang="en-US" sz="3300" dirty="0"/>
          </a:p>
        </p:txBody>
      </p:sp>
      <p:sp>
        <p:nvSpPr>
          <p:cNvPr id="8" name="Text 5"/>
          <p:cNvSpPr/>
          <p:nvPr/>
        </p:nvSpPr>
        <p:spPr>
          <a:xfrm>
            <a:off x="4714875" y="1762720"/>
            <a:ext cx="400050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kern="0" spc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FOCUS ON HIGH-MARGIN SEGMENTS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714875" y="2043113"/>
            <a:ext cx="4000500" cy="731453"/>
          </a:xfrm>
          <a:prstGeom prst="rect">
            <a:avLst/>
          </a:prstGeom>
          <a:noFill/>
          <a:ln/>
        </p:spPr>
        <p:txBody>
          <a:bodyPr wrap="square" lIns="0" tIns="0" rIns="170053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Prioritize acquisition and resale of luxury and premium vehicles (BMW, Mercedes-Benz, Infiniti) which show higher revenue per unit. Expand inventory in SUV and low-mileage categories where demand is strong.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428625" y="3131753"/>
            <a:ext cx="4000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3300" b="1" dirty="0">
                <a:solidFill>
                  <a:srgbClr val="00D2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03</a:t>
            </a:r>
            <a:endParaRPr lang="en-US" sz="3300" dirty="0"/>
          </a:p>
        </p:txBody>
      </p:sp>
      <p:sp>
        <p:nvSpPr>
          <p:cNvPr id="11" name="Text 8"/>
          <p:cNvSpPr/>
          <p:nvPr/>
        </p:nvSpPr>
        <p:spPr>
          <a:xfrm>
            <a:off x="428625" y="3781834"/>
            <a:ext cx="400050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kern="0" spc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GEOGRAPHIC EXPANSION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28625" y="4062226"/>
            <a:ext cx="4000500" cy="548590"/>
          </a:xfrm>
          <a:prstGeom prst="rect">
            <a:avLst/>
          </a:prstGeom>
          <a:noFill/>
          <a:ln/>
        </p:spPr>
        <p:txBody>
          <a:bodyPr wrap="square" lIns="0" tIns="0" rIns="170053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Deepen market presence in high-volume states (CA, FL, TX) while exploring underserved mid-tier markets (e.g., OH, TN) where competition may be lower and margins potentially higher.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714875" y="3131753"/>
            <a:ext cx="4000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3300" b="1" dirty="0">
                <a:solidFill>
                  <a:srgbClr val="00D2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04</a:t>
            </a:r>
            <a:endParaRPr lang="en-US" sz="3300" dirty="0"/>
          </a:p>
        </p:txBody>
      </p:sp>
      <p:sp>
        <p:nvSpPr>
          <p:cNvPr id="14" name="Text 11"/>
          <p:cNvSpPr/>
          <p:nvPr/>
        </p:nvSpPr>
        <p:spPr>
          <a:xfrm>
            <a:off x="4714875" y="3781834"/>
            <a:ext cx="400050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kern="0" spc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INVENTORY MIX REBALANCING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714875" y="4062226"/>
            <a:ext cx="4000500" cy="548590"/>
          </a:xfrm>
          <a:prstGeom prst="rect">
            <a:avLst/>
          </a:prstGeom>
          <a:noFill/>
          <a:ln/>
        </p:spPr>
        <p:txBody>
          <a:bodyPr wrap="square" lIns="0" tIns="0" rIns="170053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Reduce reliance on high-mileage, low-condition vehicles that drive below-market pricing. Increase the share of low-mileage inventory to improve average transaction value and margin profile.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25250" y="1380530"/>
            <a:ext cx="4693444" cy="835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4950" b="1" kern="0" spc="4" dirty="0">
                <a:solidFill>
                  <a:srgbClr val="00D2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THANK YOU</a:t>
            </a:r>
            <a:endParaRPr lang="en-US" sz="4950" dirty="0"/>
          </a:p>
        </p:txBody>
      </p:sp>
      <p:sp>
        <p:nvSpPr>
          <p:cNvPr id="4" name="Text 1"/>
          <p:cNvSpPr/>
          <p:nvPr/>
        </p:nvSpPr>
        <p:spPr>
          <a:xfrm>
            <a:off x="2509214" y="2959298"/>
            <a:ext cx="4125516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 questions or further analysis, please contact: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3165546" y="3311128"/>
            <a:ext cx="2812852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Vhonani Mphoshomale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065659" y="3589734"/>
            <a:ext cx="1012627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00D2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Junior Analyst</a:t>
            </a:r>
            <a:endParaRPr lang="en-US" sz="105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8EAAB9AF-D1F4-65C0-5858-930F2E76E5B0}"/>
              </a:ext>
            </a:extLst>
          </p:cNvPr>
          <p:cNvSpPr/>
          <p:nvPr/>
        </p:nvSpPr>
        <p:spPr>
          <a:xfrm>
            <a:off x="3288883" y="3742134"/>
            <a:ext cx="2870979" cy="1615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en-US" sz="1050" dirty="0">
                <a:solidFill>
                  <a:srgbClr val="00D2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https://</a:t>
            </a:r>
            <a:r>
              <a:rPr lang="en-US" sz="1050" dirty="0" err="1">
                <a:solidFill>
                  <a:srgbClr val="00D2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vhonanimphoshomale.lovable.app</a:t>
            </a:r>
            <a:r>
              <a:rPr lang="en-US" sz="1050" dirty="0">
                <a:solidFill>
                  <a:srgbClr val="00D2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/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995</Words>
  <Application>Microsoft Macintosh PowerPoint</Application>
  <PresentationFormat>On-screen Show (16:9)</PresentationFormat>
  <Paragraphs>136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Montserrat</vt:lpstr>
      <vt:lpstr>Montserrat ExtraBold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Vhonani Mphoshomale</cp:lastModifiedBy>
  <cp:revision>4</cp:revision>
  <dcterms:created xsi:type="dcterms:W3CDTF">2026-05-17T16:43:44Z</dcterms:created>
  <dcterms:modified xsi:type="dcterms:W3CDTF">2026-05-22T11:34:32Z</dcterms:modified>
</cp:coreProperties>
</file>